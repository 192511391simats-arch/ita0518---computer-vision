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9118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10" Type="http://schemas.openxmlformats.org/officeDocument/2006/relationships/image" Target="../media/image16.png"/><Relationship Id="rId4" Type="http://schemas.openxmlformats.org/officeDocument/2006/relationships/image" Target="../media/image13.pn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46120" y="141732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icons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008" y="1664208"/>
            <a:ext cx="512064" cy="51206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09560" y="1417320"/>
            <a:ext cx="1005840" cy="10058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5" name="Image 1" descr="icons/ey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448" y="1664208"/>
            <a:ext cx="512064" cy="51206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394960" y="16002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731520" y="274320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7F9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Processing vs Computer Vision</a:t>
            </a:r>
            <a:endParaRPr lang="en-US" sz="4000" dirty="0"/>
          </a:p>
        </p:txBody>
      </p:sp>
      <p:sp>
        <p:nvSpPr>
          <p:cNvPr id="8" name="Text 4"/>
          <p:cNvSpPr/>
          <p:nvPr/>
        </p:nvSpPr>
        <p:spPr>
          <a:xfrm>
            <a:off x="1371600" y="379476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AFC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closely related fields that power modern image-driven applications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Healthcare</a:t>
            </a:r>
            <a:endParaRPr lang="en-US" dirty="0"/>
          </a:p>
        </p:txBody>
      </p:sp>
      <p:sp>
        <p:nvSpPr>
          <p:cNvPr id="10" name="Shape 6"/>
          <p:cNvSpPr/>
          <p:nvPr/>
        </p:nvSpPr>
        <p:spPr>
          <a:xfrm>
            <a:off x="1088136" y="4846320"/>
            <a:ext cx="2331720" cy="502920"/>
          </a:xfrm>
          <a:prstGeom prst="roundRect">
            <a:avLst>
              <a:gd name="adj" fmla="val 18182"/>
            </a:avLst>
          </a:prstGeom>
          <a:solidFill>
            <a:srgbClr val="13344A"/>
          </a:solidFill>
          <a:ln w="12700">
            <a:solidFill>
              <a:srgbClr val="2E526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088136" y="48463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7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648456" y="4846320"/>
            <a:ext cx="2331720" cy="502920"/>
          </a:xfrm>
          <a:prstGeom prst="roundRect">
            <a:avLst>
              <a:gd name="adj" fmla="val 18182"/>
            </a:avLst>
          </a:prstGeom>
          <a:solidFill>
            <a:srgbClr val="13344A"/>
          </a:solidFill>
          <a:ln w="12700">
            <a:solidFill>
              <a:srgbClr val="2E526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648456" y="48463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7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208776" y="4846320"/>
            <a:ext cx="2331720" cy="502920"/>
          </a:xfrm>
          <a:prstGeom prst="roundRect">
            <a:avLst>
              <a:gd name="adj" fmla="val 18182"/>
            </a:avLst>
          </a:prstGeom>
          <a:solidFill>
            <a:srgbClr val="13344A"/>
          </a:solidFill>
          <a:ln w="12700">
            <a:solidFill>
              <a:srgbClr val="2E526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208776" y="48463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7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Vehicles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769096" y="4846320"/>
            <a:ext cx="2331720" cy="502920"/>
          </a:xfrm>
          <a:prstGeom prst="roundRect">
            <a:avLst>
              <a:gd name="adj" fmla="val 18182"/>
            </a:avLst>
          </a:prstGeom>
          <a:solidFill>
            <a:srgbClr val="13344A"/>
          </a:solidFill>
          <a:ln w="12700">
            <a:solidFill>
              <a:srgbClr val="2E5266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769096" y="48463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7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56032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Image 0" descr="icons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402336"/>
            <a:ext cx="393192" cy="3931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256032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Image Processing?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technique of manipulating and enhancing digital images.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2057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5146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1" descr="icons/mag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2642616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5146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image quality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40080" y="32918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2" descr="icons/compre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3419856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329184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noise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640080" y="40690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3" descr="icons/su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" y="4197096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71600" y="406908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contrast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640080" y="48463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4" descr="icons/lay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" y="4974336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71600" y="484632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and compress images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6172200" y="2057400"/>
            <a:ext cx="5394960" cy="3977640"/>
          </a:xfrm>
          <a:prstGeom prst="roundRect">
            <a:avLst>
              <a:gd name="adj" fmla="val 2759"/>
            </a:avLst>
          </a:prstGeom>
          <a:solidFill>
            <a:srgbClr val="EAF6F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6537960" y="22860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6537960" y="288036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3" name="Image 5" descr="icons/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56832" y="2999232"/>
            <a:ext cx="265176" cy="265176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223760" y="2834640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filters in smartphones</a:t>
            </a:r>
            <a:endParaRPr lang="en-US" sz="1350" dirty="0"/>
          </a:p>
        </p:txBody>
      </p:sp>
      <p:sp>
        <p:nvSpPr>
          <p:cNvPr id="25" name="Shape 17"/>
          <p:cNvSpPr/>
          <p:nvPr/>
        </p:nvSpPr>
        <p:spPr>
          <a:xfrm>
            <a:off x="6537960" y="384048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6" name="Image 6" descr="icons/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56832" y="3959352"/>
            <a:ext cx="265176" cy="265176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223760" y="3794760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image enhancement</a:t>
            </a:r>
            <a:endParaRPr lang="en-US" sz="1350" dirty="0"/>
          </a:p>
        </p:txBody>
      </p:sp>
      <p:sp>
        <p:nvSpPr>
          <p:cNvPr id="28" name="Shape 19"/>
          <p:cNvSpPr/>
          <p:nvPr/>
        </p:nvSpPr>
        <p:spPr>
          <a:xfrm>
            <a:off x="6537960" y="48006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9" name="Image 7" descr="icons/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56832" y="4919472"/>
            <a:ext cx="265176" cy="265176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7223760" y="4754880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removal in CCTV footage</a:t>
            </a:r>
            <a:endParaRPr lang="en-US" sz="1350" dirty="0"/>
          </a:p>
        </p:txBody>
      </p:sp>
      <p:sp>
        <p:nvSpPr>
          <p:cNvPr id="31" name="Text 21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56032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Image 0" descr="icons/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402336"/>
            <a:ext cx="393192" cy="3931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256032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Computer Vision?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field of Artificial Intelligence that enables computers to understand and interpret images and videos.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2057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5146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9" name="Image 1" descr="icons/cub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2642616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5146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objects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40080" y="329184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2" name="Image 2" descr="icons/fa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3419856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329184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faces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640080" y="406908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5" name="Image 3" descr="icons/walk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" y="4197096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71600" y="406908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movements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640080" y="484632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8" name="Image 4" descr="icons/bra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" y="4974336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71600" y="484632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decisions based on visual information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6172200" y="2057400"/>
            <a:ext cx="5394960" cy="3977640"/>
          </a:xfrm>
          <a:prstGeom prst="roundRect">
            <a:avLst>
              <a:gd name="adj" fmla="val 2759"/>
            </a:avLst>
          </a:prstGeom>
          <a:solidFill>
            <a:srgbClr val="FDECEC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6537960" y="22860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6537960" y="2788920"/>
            <a:ext cx="457200" cy="457200"/>
          </a:xfrm>
          <a:prstGeom prst="ellipse">
            <a:avLst/>
          </a:prstGeom>
          <a:solidFill>
            <a:srgbClr val="F9A199"/>
          </a:solidFill>
          <a:ln/>
        </p:spPr>
      </p:sp>
      <p:pic>
        <p:nvPicPr>
          <p:cNvPr id="23" name="Image 5" descr="icons/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7688" y="2898648"/>
            <a:ext cx="237744" cy="23774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178040" y="27432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</a:t>
            </a:r>
            <a:endParaRPr lang="en-US" sz="1350" dirty="0"/>
          </a:p>
        </p:txBody>
      </p:sp>
      <p:sp>
        <p:nvSpPr>
          <p:cNvPr id="25" name="Shape 17"/>
          <p:cNvSpPr/>
          <p:nvPr/>
        </p:nvSpPr>
        <p:spPr>
          <a:xfrm>
            <a:off x="6537960" y="3538728"/>
            <a:ext cx="457200" cy="457200"/>
          </a:xfrm>
          <a:prstGeom prst="ellipse">
            <a:avLst/>
          </a:prstGeom>
          <a:solidFill>
            <a:srgbClr val="F9A199"/>
          </a:solidFill>
          <a:ln/>
        </p:spPr>
      </p:sp>
      <p:pic>
        <p:nvPicPr>
          <p:cNvPr id="26" name="Image 6" descr="icons/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7688" y="3648456"/>
            <a:ext cx="237744" cy="237744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178040" y="349300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Self-driving cars</a:t>
            </a:r>
            <a:endParaRPr lang="en-US" sz="1350" dirty="0"/>
          </a:p>
        </p:txBody>
      </p:sp>
      <p:sp>
        <p:nvSpPr>
          <p:cNvPr id="28" name="Shape 19"/>
          <p:cNvSpPr/>
          <p:nvPr/>
        </p:nvSpPr>
        <p:spPr>
          <a:xfrm>
            <a:off x="6537960" y="4288536"/>
            <a:ext cx="457200" cy="457200"/>
          </a:xfrm>
          <a:prstGeom prst="ellipse">
            <a:avLst/>
          </a:prstGeom>
          <a:solidFill>
            <a:srgbClr val="F9A199"/>
          </a:solidFill>
          <a:ln/>
        </p:spPr>
      </p:sp>
      <p:pic>
        <p:nvPicPr>
          <p:cNvPr id="29" name="Image 7" descr="icons/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7688" y="4398264"/>
            <a:ext cx="237744" cy="237744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7178040" y="4242816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attendance systems</a:t>
            </a:r>
            <a:endParaRPr lang="en-US" sz="1350" dirty="0"/>
          </a:p>
        </p:txBody>
      </p:sp>
      <p:sp>
        <p:nvSpPr>
          <p:cNvPr id="31" name="Shape 21"/>
          <p:cNvSpPr/>
          <p:nvPr/>
        </p:nvSpPr>
        <p:spPr>
          <a:xfrm>
            <a:off x="6537960" y="5038344"/>
            <a:ext cx="457200" cy="457200"/>
          </a:xfrm>
          <a:prstGeom prst="ellipse">
            <a:avLst/>
          </a:prstGeom>
          <a:solidFill>
            <a:srgbClr val="F9A199"/>
          </a:solidFill>
          <a:ln/>
        </p:spPr>
      </p:sp>
      <p:pic>
        <p:nvPicPr>
          <p:cNvPr id="32" name="Image 8" descr="icons/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7688" y="5148072"/>
            <a:ext cx="237744" cy="237744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7178040" y="4992624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monitoring</a:t>
            </a:r>
            <a:endParaRPr lang="en-US" sz="1350" dirty="0"/>
          </a:p>
        </p:txBody>
      </p:sp>
      <p:sp>
        <p:nvSpPr>
          <p:cNvPr id="34" name="Text 23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Processing vs Computer Vision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feature-by-feature comparison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657600" cy="603504"/>
          </a:xfrm>
          <a:prstGeom prst="rect">
            <a:avLst/>
          </a:prstGeom>
          <a:solidFill>
            <a:srgbClr val="0B2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3383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343400" y="1417320"/>
            <a:ext cx="3657600" cy="603504"/>
          </a:xfrm>
          <a:prstGeom prst="rect">
            <a:avLst/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0" y="1417320"/>
            <a:ext cx="3383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046720" y="1417320"/>
            <a:ext cx="3520440" cy="603504"/>
          </a:xfrm>
          <a:prstGeom prst="rect">
            <a:avLst/>
          </a:prstGeom>
          <a:solidFill>
            <a:srgbClr val="F9616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83880" y="1417320"/>
            <a:ext cx="3246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075688"/>
            <a:ext cx="3657600" cy="603504"/>
          </a:xfrm>
          <a:prstGeom prst="rect">
            <a:avLst/>
          </a:prstGeom>
          <a:solidFill>
            <a:srgbClr val="EDF2F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075688"/>
            <a:ext cx="3383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343400" y="2075688"/>
            <a:ext cx="3657600" cy="603504"/>
          </a:xfrm>
          <a:prstGeom prst="rect">
            <a:avLst/>
          </a:prstGeom>
          <a:solidFill>
            <a:srgbClr val="DFF1F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2075688"/>
            <a:ext cx="3383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image quality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46720" y="2075688"/>
            <a:ext cx="3520440" cy="603504"/>
          </a:xfrm>
          <a:prstGeom prst="rect">
            <a:avLst/>
          </a:prstGeom>
          <a:solidFill>
            <a:srgbClr val="FBE1E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3880" y="2075688"/>
            <a:ext cx="3246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image content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2734056"/>
            <a:ext cx="3657600" cy="603504"/>
          </a:xfrm>
          <a:prstGeom prst="rect">
            <a:avLst/>
          </a:prstGeom>
          <a:solidFill>
            <a:srgbClr val="EDF2F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734056"/>
            <a:ext cx="3383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343400" y="2734056"/>
            <a:ext cx="3657600" cy="603504"/>
          </a:xfrm>
          <a:prstGeom prst="rect">
            <a:avLst/>
          </a:prstGeom>
          <a:solidFill>
            <a:srgbClr val="EAF6F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2734056"/>
            <a:ext cx="3383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046720" y="2734056"/>
            <a:ext cx="3520440" cy="603504"/>
          </a:xfrm>
          <a:prstGeom prst="rect">
            <a:avLst/>
          </a:prstGeom>
          <a:solidFill>
            <a:srgbClr val="FDEC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83880" y="2734056"/>
            <a:ext cx="3246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/ Videos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3392424"/>
            <a:ext cx="3657600" cy="603504"/>
          </a:xfrm>
          <a:prstGeom prst="rect">
            <a:avLst/>
          </a:prstGeom>
          <a:solidFill>
            <a:srgbClr val="EDF2F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392424"/>
            <a:ext cx="3383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343400" y="3392424"/>
            <a:ext cx="3657600" cy="603504"/>
          </a:xfrm>
          <a:prstGeom prst="rect">
            <a:avLst/>
          </a:prstGeom>
          <a:solidFill>
            <a:srgbClr val="DFF1F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0560" y="3392424"/>
            <a:ext cx="3383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image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046720" y="3392424"/>
            <a:ext cx="3520440" cy="603504"/>
          </a:xfrm>
          <a:prstGeom prst="rect">
            <a:avLst/>
          </a:prstGeom>
          <a:solidFill>
            <a:srgbClr val="FBE1E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83880" y="3392424"/>
            <a:ext cx="3246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/ Decision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40080" y="4050792"/>
            <a:ext cx="3657600" cy="603504"/>
          </a:xfrm>
          <a:prstGeom prst="rect">
            <a:avLst/>
          </a:prstGeom>
          <a:solidFill>
            <a:srgbClr val="EDF2F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050792"/>
            <a:ext cx="3383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4343400" y="4050792"/>
            <a:ext cx="3657600" cy="603504"/>
          </a:xfrm>
          <a:prstGeom prst="rect">
            <a:avLst/>
          </a:prstGeom>
          <a:solidFill>
            <a:srgbClr val="EAF6F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80560" y="4050792"/>
            <a:ext cx="3383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8046720" y="4050792"/>
            <a:ext cx="3520440" cy="603504"/>
          </a:xfrm>
          <a:prstGeom prst="rect">
            <a:avLst/>
          </a:prstGeom>
          <a:solidFill>
            <a:srgbClr val="FDEC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83880" y="4050792"/>
            <a:ext cx="3246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40080" y="4709160"/>
            <a:ext cx="3657600" cy="603504"/>
          </a:xfrm>
          <a:prstGeom prst="rect">
            <a:avLst/>
          </a:prstGeom>
          <a:solidFill>
            <a:srgbClr val="EDF2F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4709160"/>
            <a:ext cx="3383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Required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4343400" y="4709160"/>
            <a:ext cx="3657600" cy="603504"/>
          </a:xfrm>
          <a:prstGeom prst="rect">
            <a:avLst/>
          </a:prstGeom>
          <a:solidFill>
            <a:srgbClr val="DFF1F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80560" y="4709160"/>
            <a:ext cx="3383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No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8046720" y="4709160"/>
            <a:ext cx="3520440" cy="603504"/>
          </a:xfrm>
          <a:prstGeom prst="rect">
            <a:avLst/>
          </a:prstGeom>
          <a:solidFill>
            <a:srgbClr val="FBE1E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83880" y="4709160"/>
            <a:ext cx="3246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Yes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640080" y="5367528"/>
            <a:ext cx="3657600" cy="603504"/>
          </a:xfrm>
          <a:prstGeom prst="rect">
            <a:avLst/>
          </a:prstGeom>
          <a:solidFill>
            <a:srgbClr val="EDF2F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" y="5367528"/>
            <a:ext cx="3383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4343400" y="5367528"/>
            <a:ext cx="3657600" cy="603504"/>
          </a:xfrm>
          <a:prstGeom prst="rect">
            <a:avLst/>
          </a:prstGeom>
          <a:solidFill>
            <a:srgbClr val="EAF6F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80560" y="5367528"/>
            <a:ext cx="3383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Removal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8046720" y="5367528"/>
            <a:ext cx="3520440" cy="603504"/>
          </a:xfrm>
          <a:prstGeom prst="rect">
            <a:avLst/>
          </a:prstGeom>
          <a:solidFill>
            <a:srgbClr val="FDEC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183880" y="5367528"/>
            <a:ext cx="3246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Comparison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05840" y="1143000"/>
            <a:ext cx="420624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1430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 Pipeline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05840" y="1965960"/>
            <a:ext cx="4206240" cy="566928"/>
          </a:xfrm>
          <a:prstGeom prst="roundRect">
            <a:avLst>
              <a:gd name="adj" fmla="val 12903"/>
            </a:avLst>
          </a:prstGeom>
          <a:solidFill>
            <a:srgbClr val="EAF6F6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96596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Image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53288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05840" y="2788920"/>
            <a:ext cx="4206240" cy="566928"/>
          </a:xfrm>
          <a:prstGeom prst="roundRect">
            <a:avLst>
              <a:gd name="adj" fmla="val 12903"/>
            </a:avLst>
          </a:prstGeom>
          <a:solidFill>
            <a:srgbClr val="EAF6F6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78892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335584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05840" y="3611880"/>
            <a:ext cx="4206240" cy="566928"/>
          </a:xfrm>
          <a:prstGeom prst="roundRect">
            <a:avLst>
              <a:gd name="adj" fmla="val 12903"/>
            </a:avLst>
          </a:prstGeom>
          <a:solidFill>
            <a:srgbClr val="EAF6F6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61188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417880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05840" y="4434840"/>
            <a:ext cx="4206240" cy="566928"/>
          </a:xfrm>
          <a:prstGeom prst="roundRect">
            <a:avLst>
              <a:gd name="adj" fmla="val 12903"/>
            </a:avLst>
          </a:prstGeom>
          <a:solidFill>
            <a:srgbClr val="EAF6F6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443484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Image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49440" y="1143000"/>
            <a:ext cx="4206240" cy="502920"/>
          </a:xfrm>
          <a:prstGeom prst="roundRect">
            <a:avLst>
              <a:gd name="adj" fmla="val 14545"/>
            </a:avLst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0" y="11430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Pipeline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949440" y="1965960"/>
            <a:ext cx="4206240" cy="566928"/>
          </a:xfrm>
          <a:prstGeom prst="roundRect">
            <a:avLst>
              <a:gd name="adj" fmla="val 12903"/>
            </a:avLst>
          </a:prstGeom>
          <a:solidFill>
            <a:srgbClr val="FDECEC"/>
          </a:solidFill>
          <a:ln w="15875">
            <a:solidFill>
              <a:srgbClr val="F961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86600" y="196596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Image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49440" y="253288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949440" y="2788920"/>
            <a:ext cx="4206240" cy="566928"/>
          </a:xfrm>
          <a:prstGeom prst="roundRect">
            <a:avLst>
              <a:gd name="adj" fmla="val 12903"/>
            </a:avLst>
          </a:prstGeom>
          <a:solidFill>
            <a:srgbClr val="FDECEC"/>
          </a:solidFill>
          <a:ln w="15875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86600" y="278892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49440" y="335584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949440" y="3611880"/>
            <a:ext cx="4206240" cy="566928"/>
          </a:xfrm>
          <a:prstGeom prst="roundRect">
            <a:avLst>
              <a:gd name="adj" fmla="val 12903"/>
            </a:avLst>
          </a:prstGeom>
          <a:solidFill>
            <a:srgbClr val="FDECEC"/>
          </a:solidFill>
          <a:ln w="15875">
            <a:solidFill>
              <a:srgbClr val="F9616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86600" y="361188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49440" y="417880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949440" y="4434840"/>
            <a:ext cx="4206240" cy="566928"/>
          </a:xfrm>
          <a:prstGeom prst="roundRect">
            <a:avLst>
              <a:gd name="adj" fmla="val 12903"/>
            </a:avLst>
          </a:prstGeom>
          <a:solidFill>
            <a:srgbClr val="FDECEC"/>
          </a:solidFill>
          <a:ln w="15875">
            <a:solidFill>
              <a:srgbClr val="F9616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86600" y="443484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49440" y="500176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949440" y="5257800"/>
            <a:ext cx="4206240" cy="566928"/>
          </a:xfrm>
          <a:prstGeom prst="roundRect">
            <a:avLst>
              <a:gd name="adj" fmla="val 12903"/>
            </a:avLst>
          </a:prstGeom>
          <a:solidFill>
            <a:srgbClr val="FDECEC"/>
          </a:solidFill>
          <a:ln w="15875">
            <a:solidFill>
              <a:srgbClr val="F9616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86600" y="525780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Applications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349240" cy="4937760"/>
          </a:xfrm>
          <a:prstGeom prst="roundRect">
            <a:avLst>
              <a:gd name="adj" fmla="val 1852"/>
            </a:avLst>
          </a:prstGeom>
          <a:solidFill>
            <a:srgbClr val="EAF6F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188720"/>
            <a:ext cx="534924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5349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14884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icons/cam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28600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121408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image enhancement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914400" y="310896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icons/satell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324612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3081528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image correction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914400" y="406908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2" descr="icons/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420624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91640" y="4041648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editing software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914400" y="5029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3" descr="icons/compre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5166360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91640" y="5001768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compression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6263640" y="1188720"/>
            <a:ext cx="5349240" cy="4937760"/>
          </a:xfrm>
          <a:prstGeom prst="roundRect">
            <a:avLst>
              <a:gd name="adj" fmla="val 1852"/>
            </a:avLst>
          </a:prstGeom>
          <a:solidFill>
            <a:srgbClr val="FDECEC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263640" y="1188720"/>
            <a:ext cx="5349240" cy="6400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0" name="Text 14"/>
          <p:cNvSpPr/>
          <p:nvPr/>
        </p:nvSpPr>
        <p:spPr>
          <a:xfrm>
            <a:off x="6263640" y="1188720"/>
            <a:ext cx="5349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6629400" y="2148840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2" name="Image 4" descr="icons/c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6560" y="2286000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406640" y="2121408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vehicles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6629400" y="3108960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5" name="Image 5" descr="icons/shie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6560" y="3246120"/>
            <a:ext cx="292608" cy="29260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406640" y="3081528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surveillance</a:t>
            </a:r>
            <a:endParaRPr lang="en-US" sz="1400" dirty="0"/>
          </a:p>
        </p:txBody>
      </p:sp>
      <p:sp>
        <p:nvSpPr>
          <p:cNvPr id="27" name="Shape 19"/>
          <p:cNvSpPr/>
          <p:nvPr/>
        </p:nvSpPr>
        <p:spPr>
          <a:xfrm>
            <a:off x="6629400" y="4069080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8" name="Image 6" descr="icons/fac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6560" y="4206240"/>
            <a:ext cx="292608" cy="29260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406640" y="4041648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recognition systems</a:t>
            </a:r>
            <a:endParaRPr lang="en-US" sz="1400" dirty="0"/>
          </a:p>
        </p:txBody>
      </p:sp>
      <p:sp>
        <p:nvSpPr>
          <p:cNvPr id="30" name="Shape 21"/>
          <p:cNvSpPr/>
          <p:nvPr/>
        </p:nvSpPr>
        <p:spPr>
          <a:xfrm>
            <a:off x="6629400" y="5029200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31" name="Image 7" descr="icons/industr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6560" y="5166360"/>
            <a:ext cx="292608" cy="292608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7406640" y="5001768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quality inspection</a:t>
            </a:r>
            <a:endParaRPr lang="en-US" sz="1400" dirty="0"/>
          </a:p>
        </p:txBody>
      </p:sp>
      <p:sp>
        <p:nvSpPr>
          <p:cNvPr id="33" name="Text 23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349240" cy="4937760"/>
          </a:xfrm>
          <a:prstGeom prst="roundRect">
            <a:avLst>
              <a:gd name="adj" fmla="val 1852"/>
            </a:avLst>
          </a:prstGeom>
          <a:solidFill>
            <a:srgbClr val="EAF6F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17320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914400" y="21488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2267712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7568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visual quality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914400" y="32004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1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3319272"/>
            <a:ext cx="265176" cy="2651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312724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implement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914400" y="42519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2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4370832"/>
            <a:ext cx="265176" cy="26517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00200" y="417880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processing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6263640" y="1188720"/>
            <a:ext cx="5349240" cy="4937760"/>
          </a:xfrm>
          <a:prstGeom prst="roundRect">
            <a:avLst>
              <a:gd name="adj" fmla="val 1852"/>
            </a:avLst>
          </a:prstGeom>
          <a:solidFill>
            <a:srgbClr val="FDECEC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263640" y="1417320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6629400" y="21488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7" name="Image 3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272" y="2267712"/>
            <a:ext cx="265176" cy="26517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15200" y="207568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decision-making</a:t>
            </a:r>
            <a:endParaRPr lang="en-US" sz="1450" dirty="0"/>
          </a:p>
        </p:txBody>
      </p:sp>
      <p:sp>
        <p:nvSpPr>
          <p:cNvPr id="19" name="Shape 13"/>
          <p:cNvSpPr/>
          <p:nvPr/>
        </p:nvSpPr>
        <p:spPr>
          <a:xfrm>
            <a:off x="6629400" y="32004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0" name="Image 4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272" y="3319272"/>
            <a:ext cx="265176" cy="26517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315200" y="312724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human effort</a:t>
            </a:r>
            <a:endParaRPr lang="en-US" sz="1450" dirty="0"/>
          </a:p>
        </p:txBody>
      </p:sp>
      <p:sp>
        <p:nvSpPr>
          <p:cNvPr id="22" name="Shape 15"/>
          <p:cNvSpPr/>
          <p:nvPr/>
        </p:nvSpPr>
        <p:spPr>
          <a:xfrm>
            <a:off x="6629400" y="425196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3" name="Image 5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272" y="4370832"/>
            <a:ext cx="265176" cy="265176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315200" y="417880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intelligent systems</a:t>
            </a:r>
            <a:endParaRPr lang="en-US" sz="1450" dirty="0"/>
          </a:p>
        </p:txBody>
      </p:sp>
      <p:sp>
        <p:nvSpPr>
          <p:cNvPr id="25" name="Text 17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349240" cy="4937760"/>
          </a:xfrm>
          <a:prstGeom prst="roundRect">
            <a:avLst>
              <a:gd name="adj" fmla="val 1852"/>
            </a:avLst>
          </a:prstGeom>
          <a:solidFill>
            <a:srgbClr val="EAF6F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17320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914400" y="21488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2267712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7568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noise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914400" y="32004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1" descr="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3319272"/>
            <a:ext cx="265176" cy="2651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312724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lose image details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263640" y="1188720"/>
            <a:ext cx="5349240" cy="4937760"/>
          </a:xfrm>
          <a:prstGeom prst="roundRect">
            <a:avLst>
              <a:gd name="adj" fmla="val 1852"/>
            </a:avLst>
          </a:prstGeom>
          <a:solidFill>
            <a:srgbClr val="FDECEC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263640" y="1417320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6629400" y="21488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4" name="Image 2" descr="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272" y="2267712"/>
            <a:ext cx="265176" cy="2651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15200" y="207568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large datasets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629400" y="32004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7" name="Image 3" descr="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272" y="3319272"/>
            <a:ext cx="265176" cy="26517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15200" y="312724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computational cost</a:t>
            </a:r>
            <a:endParaRPr lang="en-US" sz="1450" dirty="0"/>
          </a:p>
        </p:txBody>
      </p:sp>
      <p:sp>
        <p:nvSpPr>
          <p:cNvPr id="19" name="Shape 13"/>
          <p:cNvSpPr/>
          <p:nvPr/>
        </p:nvSpPr>
        <p:spPr>
          <a:xfrm>
            <a:off x="6629400" y="425196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0" name="Image 4" descr="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272" y="4370832"/>
            <a:ext cx="265176" cy="26517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315200" y="417880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affected by lighting and occlusion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67528" y="685800"/>
            <a:ext cx="1463040" cy="14630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288" y="105156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3317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463040" y="3108960"/>
            <a:ext cx="9235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D7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 and Computer Vision are closely related technologies. Image Processing enhances and prepares images, while Computer Vision analyzes and understands them.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737360" y="4297680"/>
            <a:ext cx="8686800" cy="1371600"/>
          </a:xfrm>
          <a:prstGeom prst="roundRect">
            <a:avLst>
              <a:gd name="adj" fmla="val 8000"/>
            </a:avLst>
          </a:prstGeom>
          <a:solidFill>
            <a:srgbClr val="13344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057400" y="44348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most modern applications, Image Processing acts as the first step, and Computer Vision performs intelligent analysis to generate useful insights and decisions.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321</Words>
  <Application>Microsoft Office PowerPoint</Application>
  <PresentationFormat>Widescreen</PresentationFormat>
  <Paragraphs>122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Kavina g</cp:lastModifiedBy>
  <cp:revision>1</cp:revision>
  <dcterms:created xsi:type="dcterms:W3CDTF">2026-07-24T06:27:17Z</dcterms:created>
  <dcterms:modified xsi:type="dcterms:W3CDTF">2026-07-24T06:29:29Z</dcterms:modified>
</cp:coreProperties>
</file>